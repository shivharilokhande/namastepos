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572000" cy="4572000"/>
          </a:xfrm>
          <a:prstGeom prst="ellipse">
            <a:avLst/>
          </a:prstGeom>
          <a:solidFill>
            <a:srgbClr val="35723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28532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2860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NamastePOS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2918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billing that just works — mobile-first, offline-ready, all-inclusive.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5852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Partner Pitch  ·  namastepos.in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restaurants are stuck with billing software that fights them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7F7F2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201168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9933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Overpriced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487168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charge ₹14,000–18,000+/yr, often with annual lock-in contracts.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7F7F2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37960" y="201168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360920" y="19933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Nickel-and-dimed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2487168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things like reports sit behind extra monthly paywalls.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7F7F2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4160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414223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Web-only &amp; fragile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4636008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tools break when the internet drops — mid dinner-rush.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263640" y="3886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7F7F2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37960" y="416052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37960" y="4160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414223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support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4636008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owners are a low priority behind big chains.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NamastePOS: everything they need, in one honest price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3429000" cy="3291840"/>
          </a:xfrm>
          <a:prstGeom prst="roundRect">
            <a:avLst>
              <a:gd name="adj" fmla="val 2500"/>
            </a:avLst>
          </a:prstGeom>
          <a:solidFill>
            <a:srgbClr val="EAF3E4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2148840"/>
            <a:ext cx="777240" cy="7772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148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◑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63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Mobile-first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56616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whole restaurant from a phone or tablet — no bulky terminal needed.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3429000" cy="3291840"/>
          </a:xfrm>
          <a:prstGeom prst="roundRect">
            <a:avLst>
              <a:gd name="adj" fmla="val 2500"/>
            </a:avLst>
          </a:prstGeom>
          <a:solidFill>
            <a:srgbClr val="EAF3E4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2148840"/>
            <a:ext cx="777240" cy="7772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63440" y="2148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⤓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063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 offline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56616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 and KOTs keep flowing with no internet; everything syncs when it returns.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46720" y="1828800"/>
            <a:ext cx="3429000" cy="3291840"/>
          </a:xfrm>
          <a:prstGeom prst="roundRect">
            <a:avLst>
              <a:gd name="adj" fmla="val 2500"/>
            </a:avLst>
          </a:prstGeom>
          <a:solidFill>
            <a:srgbClr val="EAF3E4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66760" y="2148840"/>
            <a:ext cx="777240" cy="7772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66760" y="2148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063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All-inclusive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56616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loyalty, GST invoices — included. No per-feature paywalls, no lock-in.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394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“All of the leader’s everyday features — mobile, offline, transparent — for less.”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app runs the front of house, kitchen and books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429000" cy="2057400"/>
          </a:xfrm>
          <a:prstGeom prst="roundRect">
            <a:avLst>
              <a:gd name="adj" fmla="val 4000"/>
            </a:avLst>
          </a:prstGeom>
          <a:solidFill>
            <a:srgbClr val="F7F7F2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32688" y="1892808"/>
            <a:ext cx="566928" cy="5669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45920" y="1874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 &amp; KOT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560320"/>
            <a:ext cx="2880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POS, tables, captain &amp; kitchen display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1600200"/>
            <a:ext cx="3429000" cy="2057400"/>
          </a:xfrm>
          <a:prstGeom prst="roundRect">
            <a:avLst>
              <a:gd name="adj" fmla="val 4000"/>
            </a:avLst>
          </a:prstGeom>
          <a:solidFill>
            <a:srgbClr val="F7F7F2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36008" y="1892808"/>
            <a:ext cx="566928" cy="5669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49240" y="1874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GST invoices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636008" y="2560320"/>
            <a:ext cx="2880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tax bills + e-invoice ready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1600200"/>
            <a:ext cx="3429000" cy="2057400"/>
          </a:xfrm>
          <a:prstGeom prst="roundRect">
            <a:avLst>
              <a:gd name="adj" fmla="val 4000"/>
            </a:avLst>
          </a:prstGeom>
          <a:solidFill>
            <a:srgbClr val="F7F7F2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339328" y="1892808"/>
            <a:ext cx="566928" cy="5669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0" y="1874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 ordering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339328" y="2560320"/>
            <a:ext cx="2880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scan, order &amp; pay from the table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3429000" cy="2057400"/>
          </a:xfrm>
          <a:prstGeom prst="roundRect">
            <a:avLst>
              <a:gd name="adj" fmla="val 4000"/>
            </a:avLst>
          </a:prstGeom>
          <a:solidFill>
            <a:srgbClr val="F7F7F2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32688" y="4224528"/>
            <a:ext cx="566928" cy="5669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645920" y="4206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Loyalty &amp; wallet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4892040"/>
            <a:ext cx="2880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Points, memberships, gift-card wallet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43400" y="3931920"/>
            <a:ext cx="3429000" cy="2057400"/>
          </a:xfrm>
          <a:prstGeom prst="roundRect">
            <a:avLst>
              <a:gd name="adj" fmla="val 4000"/>
            </a:avLst>
          </a:prstGeom>
          <a:solidFill>
            <a:srgbClr val="F7F7F2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36008" y="4224528"/>
            <a:ext cx="566928" cy="5669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349240" y="4206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636008" y="4892040"/>
            <a:ext cx="2880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Cash, UPI, card &amp; split payments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46720" y="3931920"/>
            <a:ext cx="3429000" cy="2057400"/>
          </a:xfrm>
          <a:prstGeom prst="roundRect">
            <a:avLst>
              <a:gd name="adj" fmla="val 4000"/>
            </a:avLst>
          </a:prstGeom>
          <a:solidFill>
            <a:srgbClr val="F7F7F2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339328" y="4224528"/>
            <a:ext cx="566928" cy="5669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052560" y="4206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339328" y="4892040"/>
            <a:ext cx="2880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P&amp;L, item &amp; staff performance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owners switch to NamastePOS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651760" cy="658368"/>
          </a:xfrm>
          <a:prstGeom prst="rect">
            <a:avLst/>
          </a:prstGeom>
          <a:solidFill>
            <a:srgbClr val="2C5F2D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155448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91840" y="1554480"/>
            <a:ext cx="2286000" cy="658368"/>
          </a:xfrm>
          <a:prstGeom prst="rect">
            <a:avLst/>
          </a:prstGeom>
          <a:solidFill>
            <a:srgbClr val="2C5F2D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401568" y="155448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NamastePOS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577840" y="1554480"/>
            <a:ext cx="2011680" cy="658368"/>
          </a:xfrm>
          <a:prstGeom prst="rect">
            <a:avLst/>
          </a:prstGeom>
          <a:solidFill>
            <a:srgbClr val="2C5F2D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87568" y="155448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Petpooja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589520" y="1554480"/>
            <a:ext cx="2011680" cy="658368"/>
          </a:xfrm>
          <a:prstGeom prst="rect">
            <a:avLst/>
          </a:prstGeom>
          <a:solidFill>
            <a:srgbClr val="2C5F2D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99248" y="155448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Posist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601200" y="1554480"/>
            <a:ext cx="2011680" cy="658368"/>
          </a:xfrm>
          <a:prstGeom prst="rect">
            <a:avLst/>
          </a:prstGeom>
          <a:solidFill>
            <a:srgbClr val="2C5F2D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710928" y="155448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Rista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2212848"/>
            <a:ext cx="26517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221284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Approx. price / yr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91840" y="2212848"/>
            <a:ext cx="2286000" cy="658368"/>
          </a:xfrm>
          <a:prstGeom prst="rect">
            <a:avLst/>
          </a:prstGeom>
          <a:solidFill>
            <a:srgbClr val="EAF3E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01568" y="2212848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₹7,999–9,999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577840" y="2212848"/>
            <a:ext cx="2011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87568" y="221284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~₹14,400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589520" y="2212848"/>
            <a:ext cx="2011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99248" y="221284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~₹18,000+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601200" y="2212848"/>
            <a:ext cx="2011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710928" y="221284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~₹15,000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2871216"/>
            <a:ext cx="2651760" cy="658368"/>
          </a:xfrm>
          <a:prstGeom prst="rect">
            <a:avLst/>
          </a:prstGeom>
          <a:solidFill>
            <a:srgbClr val="F7F7F2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2871216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Annual lock-in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91840" y="2871216"/>
            <a:ext cx="2286000" cy="658368"/>
          </a:xfrm>
          <a:prstGeom prst="rect">
            <a:avLst/>
          </a:prstGeom>
          <a:solidFill>
            <a:srgbClr val="EAF3E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01568" y="2871216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577840" y="2871216"/>
            <a:ext cx="2011680" cy="658368"/>
          </a:xfrm>
          <a:prstGeom prst="rect">
            <a:avLst/>
          </a:prstGeom>
          <a:solidFill>
            <a:srgbClr val="F7F7F2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87568" y="2871216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589520" y="2871216"/>
            <a:ext cx="2011680" cy="658368"/>
          </a:xfrm>
          <a:prstGeom prst="rect">
            <a:avLst/>
          </a:prstGeom>
          <a:solidFill>
            <a:srgbClr val="F7F7F2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699248" y="2871216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601200" y="2871216"/>
            <a:ext cx="2011680" cy="658368"/>
          </a:xfrm>
          <a:prstGeom prst="rect">
            <a:avLst/>
          </a:prstGeom>
          <a:solidFill>
            <a:srgbClr val="F7F7F2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710928" y="2871216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0080" y="3529584"/>
            <a:ext cx="26517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49808" y="3529584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included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291840" y="3529584"/>
            <a:ext cx="2286000" cy="658368"/>
          </a:xfrm>
          <a:prstGeom prst="rect">
            <a:avLst/>
          </a:prstGeom>
          <a:solidFill>
            <a:srgbClr val="EAF3E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401568" y="3529584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577840" y="3529584"/>
            <a:ext cx="2011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687568" y="3529584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589520" y="3529584"/>
            <a:ext cx="2011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699248" y="3529584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9601200" y="3529584"/>
            <a:ext cx="2011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710928" y="3529584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+₹600/mo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40080" y="4187952"/>
            <a:ext cx="2651760" cy="658368"/>
          </a:xfrm>
          <a:prstGeom prst="rect">
            <a:avLst/>
          </a:prstGeom>
          <a:solidFill>
            <a:srgbClr val="F7F7F2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49808" y="418795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+ offline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291840" y="4187952"/>
            <a:ext cx="2286000" cy="658368"/>
          </a:xfrm>
          <a:prstGeom prst="rect">
            <a:avLst/>
          </a:prstGeom>
          <a:solidFill>
            <a:srgbClr val="EAF3E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401568" y="4187952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577840" y="4187952"/>
            <a:ext cx="2011680" cy="658368"/>
          </a:xfrm>
          <a:prstGeom prst="rect">
            <a:avLst/>
          </a:prstGeom>
          <a:solidFill>
            <a:srgbClr val="F7F7F2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687568" y="418795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7589520" y="4187952"/>
            <a:ext cx="2011680" cy="658368"/>
          </a:xfrm>
          <a:prstGeom prst="rect">
            <a:avLst/>
          </a:prstGeom>
          <a:solidFill>
            <a:srgbClr val="F7F7F2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699248" y="418795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9601200" y="4187952"/>
            <a:ext cx="2011680" cy="658368"/>
          </a:xfrm>
          <a:prstGeom prst="rect">
            <a:avLst/>
          </a:prstGeom>
          <a:solidFill>
            <a:srgbClr val="F7F7F2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710928" y="418795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640080" y="4846320"/>
            <a:ext cx="26517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49808" y="484632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for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3291840" y="4846320"/>
            <a:ext cx="2286000" cy="658368"/>
          </a:xfrm>
          <a:prstGeom prst="rect">
            <a:avLst/>
          </a:prstGeom>
          <a:solidFill>
            <a:srgbClr val="EAF3E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401568" y="484632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&amp; mid outlets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5577840" y="4846320"/>
            <a:ext cx="2011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687568" y="484632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7589520" y="4846320"/>
            <a:ext cx="2011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699248" y="484632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9601200" y="4846320"/>
            <a:ext cx="2011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710928" y="484632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640080" y="56418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daily features as the leader — lower price, no lock-in, no report paywall.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large, fast-growing market with a compliance tailwind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285327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14400" y="19659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7.5M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932688" y="28803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in India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63640" y="173736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285327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37960" y="19659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$848M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556248" y="28803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restaurant-software market by 2030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886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285327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14400" y="41148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22.8%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932688" y="50292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market growth (CAGR)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63640" y="3886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285327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37960" y="41148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 cr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556248" y="50292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e-invoice threshold — pulling SMBs into compliant billing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Simple, transparent pricing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429000" cy="4114800"/>
          </a:xfrm>
          <a:prstGeom prst="roundRect">
            <a:avLst>
              <a:gd name="adj" fmla="val 2400"/>
            </a:avLst>
          </a:prstGeom>
          <a:solidFill>
            <a:srgbClr val="F7F7F2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14400" y="1783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Starter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2860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₹7,999</a:t>
            </a:r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</a:rPr>
              <a:t> /year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15468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core POS &amp; KOT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invoices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ordering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1554480"/>
            <a:ext cx="3429000" cy="4114800"/>
          </a:xfrm>
          <a:prstGeom prst="roundRect">
            <a:avLst>
              <a:gd name="adj" fmla="val 24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17720" y="1783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2860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₹11,999</a:t>
            </a:r>
            <a:pPr indent="0" marL="0">
              <a:buNone/>
            </a:pPr>
            <a:r>
              <a:rPr lang="en-US" sz="1300" dirty="0">
                <a:solidFill>
                  <a:srgbClr val="CFE3C4"/>
                </a:solidFill>
              </a:rPr>
              <a:t> /year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315468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AF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Starter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AF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Loyalty, wallet, memberships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AF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&amp; advanced reports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AF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1554480"/>
            <a:ext cx="3429000" cy="4114800"/>
          </a:xfrm>
          <a:prstGeom prst="roundRect">
            <a:avLst>
              <a:gd name="adj" fmla="val 2400"/>
            </a:avLst>
          </a:prstGeom>
          <a:solidFill>
            <a:srgbClr val="F7F7F2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21040" y="1783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2860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</a:t>
            </a:r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</a:rPr>
              <a:t> multi-outlet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315468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outlets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reporting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&amp; training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support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free trial · no card required · 2 months free on annual prepay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and ready today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158191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581912"/>
            <a:ext cx="7406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live on namastepos.in — web dashboard, admin, Android &amp; iOS apps.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731520" cy="7315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697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67919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2679192"/>
            <a:ext cx="7406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app, automated uptime monitoring, 230+ backend tests passing.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31520" y="3794760"/>
            <a:ext cx="731520" cy="7315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794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7764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3776472"/>
            <a:ext cx="7406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Multi-tenant, tenant-scoped data, verified payments, hardened billing.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31520" y="4892040"/>
            <a:ext cx="731520" cy="7315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4892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87375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bill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4873752"/>
            <a:ext cx="7406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subscriptions, plans &amp; add-ons, coupons and wallet built in.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 with NamastePOS — earn recurring income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3429000" cy="2743200"/>
          </a:xfrm>
          <a:prstGeom prst="roundRect">
            <a:avLst>
              <a:gd name="adj" fmla="val 3000"/>
            </a:avLst>
          </a:prstGeom>
          <a:solidFill>
            <a:srgbClr val="285327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14400" y="19659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20–30%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932688" y="288036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commission on every restaurant you bring — every year they renew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3400" y="1737360"/>
            <a:ext cx="3429000" cy="2743200"/>
          </a:xfrm>
          <a:prstGeom prst="roundRect">
            <a:avLst>
              <a:gd name="adj" fmla="val 3000"/>
            </a:avLst>
          </a:prstGeom>
          <a:solidFill>
            <a:srgbClr val="285327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617720" y="19659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sell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636008" y="288036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 &amp; sign local restaurants; we handle product, onboarding &amp; support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46720" y="1737360"/>
            <a:ext cx="3429000" cy="2743200"/>
          </a:xfrm>
          <a:prstGeom prst="roundRect">
            <a:avLst>
              <a:gd name="adj" fmla="val 3000"/>
            </a:avLst>
          </a:prstGeom>
          <a:solidFill>
            <a:srgbClr val="285327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321040" y="19659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support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8339328" y="288036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kit, training, marketing material and a partner dashboard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800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3D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sign 15 restaurants at ₹9,999 → ~₹30,000–45,000 recurring every year.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023360"/>
            <a:ext cx="3840480" cy="3840480"/>
          </a:xfrm>
          <a:prstGeom prst="ellipse">
            <a:avLst/>
          </a:prstGeom>
          <a:solidFill>
            <a:srgbClr val="2853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Let’s grow Indian restaurants together.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383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namastepos.in</a:t>
            </a:r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Partner with us: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shivlokhande7080@gmail.com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NamastePOS · Restaurant billing that just works.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2026-08-26T08:19:38Z</dcterms:created>
  <dcterms:modified xsi:type="dcterms:W3CDTF">2026-08-26T08:19:38Z</dcterms:modified>
</cp:coreProperties>
</file>